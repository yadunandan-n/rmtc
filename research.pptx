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sldIdLst>
    <p:sldId id="25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005267-5874-49ED-AF13-26210691B4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18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7E02-B165-4D14-BCA1-ECE30257018F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E868-2DC1-4148-8CC0-CF8E28B179A2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5572D-10EB-4B76-8A26-EFE1AE05C01E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259E8-D91A-484E-8671-CDC93AF73194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EA854-E1B1-4C8E-9369-3F5D92F94BE5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5FD7-E9B9-4C65-A92E-B3764E4DDBC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1D38A-5A2D-4B46-9EF0-6C548914F4D5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E1BD9-AF4C-4964-BC02-F0D0FFD8019F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B3875-5DC6-4357-8D97-036213D6332D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cybersecurity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A5BE6-8B55-4382-B5EE-AEA498F73F18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CDE0F-94D9-4CCC-A757-D1057B9867F5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269E-6851-4D14-86BF-3D9C254A606B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E840-E676-43E2-9D98-44B0FAD07C52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BDF8D-EBFA-46AF-931E-16AE51A393DE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5D4-B91A-4048-B844-18D304FAD0F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AE61E8D-3712-431E-BD88-B0FBAE7503B8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cybersecurity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805" y="147280"/>
            <a:ext cx="9528390" cy="125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147430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and Technical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27395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  <a:p>
            <a:pPr algn="ctr"/>
            <a:r>
              <a:rPr lang="en-US" sz="2800" dirty="0"/>
              <a:t>Zero Trust Architecture for Military UAV Security Systems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442941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YADUNANDAN N- 251091010013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" y="4436669"/>
            <a:ext cx="1219199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Deepak Parashar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Engineering,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Manipal Institute of Technology.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8399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r>
              <a:rPr lang="en-US" sz="4000" dirty="0"/>
              <a:t>Zero Trust Architecture for Military UAV Security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7389965" y="4094028"/>
            <a:ext cx="3485072" cy="63905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sz="2300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2F508DFE-E2FF-4702-B67D-F1B59690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cybersecurity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09950D2B-9D84-4F48-923E-D7D61B5A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pPr/>
              <a:t>2</a:t>
            </a:fld>
            <a:endParaRPr lang="en-US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120916" y="10"/>
            <a:ext cx="6377941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9432" y="381000"/>
            <a:ext cx="4538124" cy="970450"/>
          </a:xfrm>
        </p:spPr>
        <p:txBody>
          <a:bodyPr anchor="b">
            <a:normAutofit/>
          </a:bodyPr>
          <a:lstStyle/>
          <a:p>
            <a:r>
              <a:rPr lang="en-IN" sz="4000" b="1" dirty="0"/>
              <a:t>Introduction</a:t>
            </a:r>
            <a:endParaRPr lang="en-IN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UAVs are widely used in defense and military for surveillance, reconnaissance, and intelligence.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As UAVs become more interconnected, cybersecurity threats grow.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Traditional security models are ineffective against modern cyber threats.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Zero Trust Architecture (ZTA) provides a more robust security framework.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37B54-0AB1-48AC-A7D8-C5031E8D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482B0-5182-412F-AE74-B423DBB4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7B86-D908-49E0-BEA0-A44DCA78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 of the Study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A5D1-874A-49FD-81EA-CDAFF55BB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assess the applicability of ZTA in securing military UAV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investigate the role of Machine Learning (ML) in supporting ZTA.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conduct a systematic literature review on ZTA and UAV integration.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BB54D-503A-4E2D-A873-34BAD4FA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7832-3A5B-47DE-85CE-4B032A03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203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DE6F0-EDE9-491F-9A88-DE751B39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Zero Trust Architecture (ZTA)?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AC80-1487-4CBC-A4DF-FB8200418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model based on the principle: "Never Trust, Always Verify."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Assumes no user or device is trustworthy by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Enforces continuous authentication, authorization, and validation.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CE2CB-AEBC-4148-8365-D0B1E0FA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550AC-1294-4B20-8198-CDD5F55B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46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D0AA-28D5-403E-A5CF-A13A0002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ZTA for Military UAVs?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1829E-D9FB-41AD-A086-563ECBF12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UAVs carry sensitive data and perform critical 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breach could compromise national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ZTA limits lateral movement and unauthorized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Enhances situational awareness through real-time monitoring.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C5112-B476-4EF7-A501-3A453646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C88D5-0ABE-458B-B04D-6C6DED80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2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7E4F-32C8-40B0-87F5-4E7F70CB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Limitations of Traditional Security Models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F2CA7-BBE5-490F-8631-0488BB013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Perimeter-based (castle-and-moat) model assumes internal trust.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Vulnerable to insider threats and external breaches once perimeter is broken.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Ineffective in decentralized, mobile UAV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95501-9AB8-47C8-8FF9-3F2F8B4E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A1D7B-C245-4CDC-8792-CBBE1120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52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DB52-4701-44F5-A266-1865FC52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Core Principles of ZTA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BC00F-D10B-442E-BAD7-01FB84A49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Eliminate implicit trust.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 least privilege access.</a:t>
            </a:r>
          </a:p>
          <a:p>
            <a:pPr>
              <a:buFont typeface="+mj-lt"/>
              <a:buAutoNum type="arabicPeriod"/>
            </a:pPr>
            <a:r>
              <a:rPr lang="en-US" dirty="0"/>
              <a:t>Enforce continuous monitoring.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micro-segmentation.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Rely on strict Identity and Access Management (IAM).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C5464-C0A4-4BAB-9D1F-AA2C5E63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11682-3BAE-4AF4-B4A2-737F3535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439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667D-143F-4659-BCFF-8A5043D2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ZTA Components (Based on NIST)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B129-20EC-4C4C-9813-08D395F47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Policy Engine (PE):</a:t>
            </a:r>
            <a:r>
              <a:rPr lang="en-US" dirty="0"/>
              <a:t> Makes access decisions using trust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Policy Administrator (PA):</a:t>
            </a:r>
            <a:r>
              <a:rPr lang="en-US" dirty="0"/>
              <a:t> Enforces PE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Policy Enforcement Point (PEP):</a:t>
            </a:r>
            <a:r>
              <a:rPr lang="en-US" dirty="0"/>
              <a:t> Controls access between users and resources.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4ABB4-BDEB-486A-96CF-C87A6682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9530C-BF42-4597-953F-582AE105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 descr="A diagram of a computer">
            <a:extLst>
              <a:ext uri="{FF2B5EF4-FFF2-40B4-BE49-F238E27FC236}">
                <a16:creationId xmlns:a16="http://schemas.microsoft.com/office/drawing/2014/main" id="{1F47E4E3-F4CD-C28A-A556-57781EC4C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274" y="1357182"/>
            <a:ext cx="4049452" cy="210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F3B1D-7B11-4FB1-8D6E-91864F15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Logical ZTA Components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F622E-1D61-402C-9C86-53FD7625E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Continuous diagnostics and mitigation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IAM with multi-factor authentication (MFA).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Information and Event Management (SIEM)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Encryption mechanisms.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E1BC5-FA45-42BB-9667-BAA30549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78FFF-CCEB-4961-B732-23B61ED4D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533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7CFB-981E-4870-8C33-39E4894C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 </a:t>
            </a:r>
            <a:r>
              <a:rPr lang="en-US" b="1" dirty="0"/>
              <a:t>Machine Learning in ZTA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724DD-A152-4FE8-829D-0EBC9C128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anomalies in behavior and access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Triggers automated responses to potential threats.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Enhances threat detection and situational awareness.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D6D97-4576-4C34-ACDF-644D336E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6D3C0-A3AA-470B-AA98-D69B8EDD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86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DD29-0FB7-4B05-9E2A-D3DD574E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UAV Security Layers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4FFE7-BECE-4AC2-9160-EC816641B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Hardware Level</a:t>
            </a:r>
          </a:p>
          <a:p>
            <a:pPr>
              <a:buFont typeface="+mj-lt"/>
              <a:buAutoNum type="arabicPeriod"/>
            </a:pPr>
            <a:r>
              <a:rPr lang="en-US" dirty="0"/>
              <a:t>Software Level</a:t>
            </a:r>
          </a:p>
          <a:p>
            <a:pPr>
              <a:buFont typeface="+mj-lt"/>
              <a:buAutoNum type="arabicPeriod"/>
            </a:pPr>
            <a:r>
              <a:rPr lang="en-US" dirty="0"/>
              <a:t>Communication/Network Level</a:t>
            </a:r>
          </a:p>
          <a:p>
            <a:pPr>
              <a:buFont typeface="+mj-lt"/>
              <a:buAutoNum type="arabicPeriod"/>
            </a:pPr>
            <a:r>
              <a:rPr lang="en-US" dirty="0"/>
              <a:t>Sensor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level presents unique vulnerabilities</a:t>
            </a:r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1366-FC7B-4460-8C97-D0187718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BE3D7-0F81-450A-BA08-8027DFDD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 descr="A diagram of a security system&#10;&#10;AI-generated content may be incorrect.">
            <a:extLst>
              <a:ext uri="{FF2B5EF4-FFF2-40B4-BE49-F238E27FC236}">
                <a16:creationId xmlns:a16="http://schemas.microsoft.com/office/drawing/2014/main" id="{90FDEDA1-56E2-6D49-F73D-CB7EA43F0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856" y="1866900"/>
            <a:ext cx="5858231" cy="291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1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21CA-5E8D-4A9B-A409-66C73309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Common Cyber Threats to UAVs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C69E-A22A-4E31-AD30-780156044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GPS Spoofing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Denial of Service (DoS)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interception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Unauthorized command injection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Insider threats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6A694-F09B-4279-96D9-19CBEF6A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315E4-6359-4706-A2A8-26B0C3D4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 descr="A diagram of a cyber attack&#10;&#10;AI-generated content may be incorrect.">
            <a:extLst>
              <a:ext uri="{FF2B5EF4-FFF2-40B4-BE49-F238E27FC236}">
                <a16:creationId xmlns:a16="http://schemas.microsoft.com/office/drawing/2014/main" id="{EED1F430-409A-1C76-94FB-26740E955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058" y="1638060"/>
            <a:ext cx="6548968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81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CB05-1B01-467F-8FF1-ED9B0EF8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UAVs in Military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08A1E-7F4E-4B4E-A1DF-4BF286388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Reconnaissance and surveillance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Target acquisition and designation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Communication relays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Logistics and battlefield support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Electronic warfare and cyber payloads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828E4-0CA9-46E9-8E8D-D99745CA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99AF2-4B4C-440C-84E0-B2BA87B0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544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B79C-7AFA-400A-B1F0-066DC934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/>
              <a:t>IoBT</a:t>
            </a:r>
            <a:r>
              <a:rPr lang="en-IN" b="1" dirty="0"/>
              <a:t> and UAV Integration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23CDF-EB07-4257-A343-7B6D8EB79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Internet of Battlefield Things (</a:t>
            </a:r>
            <a:r>
              <a:rPr lang="en-US" dirty="0" err="1"/>
              <a:t>IoBT</a:t>
            </a:r>
            <a:r>
              <a:rPr lang="en-US" dirty="0"/>
              <a:t>) links multiple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ZTA ensures secure communication and coordination.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access control through PE, PA, and PEP.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00240-BE4B-4DAD-8DF1-EB17BCAF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660CA-969B-437C-9227-82751630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79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5B00-FB72-47FF-A0D7-025E4BA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 Control Mechanisms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01683-2E07-4403-96C2-D15DDDB0F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RBAC:</a:t>
            </a:r>
            <a:r>
              <a:rPr lang="en-US" dirty="0"/>
              <a:t> Access based on roles (e.g., pilot, analyst).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ABAC:</a:t>
            </a:r>
            <a:r>
              <a:rPr lang="en-US" dirty="0"/>
              <a:t> Access based on attributes (e.g., location, time, device).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ACPBS-IoT:</a:t>
            </a:r>
            <a:r>
              <a:rPr lang="en-US" dirty="0"/>
              <a:t> Protocol for battlefield surveillance access control.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2E643-00C1-489B-9DE0-777D0768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49034-FCB8-4B5D-B350-BCD95370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06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6F00-F169-45A3-9DF6-AA65E2AE8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Benefits of Implementing ZTA in UAVs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AF955-DE7C-4F1C-AE52-D9D173C4C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threat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risk of data breaches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trust and accountability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Scalability and flexibility in dynamic environments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6D74A-47B5-4362-9529-0FA8E14DE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1C4EE-0FD9-4C40-B55B-5EEBE5C8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792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389A4-8EEE-4622-8592-CB749DA4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Risks and Challenges of ZTA Implementation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348C6-4C3F-42DE-B7AA-551E4F26A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Complexity in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degradation (due to continuous checks)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resource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trained personnel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92580-E893-4BCF-BF2E-504BCF644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2B9BC-1D84-4971-9168-BB7BB77B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70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DDB9-CC76-40FC-AF4D-62246C32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Accuracy of ZTA Systems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3DC60-9558-4DC6-8F51-09641F306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Studies report detection accuracy up to 99.99%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helps identify both known and unknown threats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dynamic access and real-time threat response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25FE9-C655-4C44-A43A-670FCB66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807A2-987A-4F04-8BEB-739572A5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166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9468-EEEB-41C2-B028-CE014C6A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Literature Review Summary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CB5BB-7AD6-4364-BE81-CBE1DD99D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 27,000 papers analyzed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selection: 26 key papers (2014–2023)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Topics: ZTA, UAVs, Machine Learning, </a:t>
            </a:r>
            <a:r>
              <a:rPr lang="en-US" dirty="0" err="1"/>
              <a:t>IoBT</a:t>
            </a:r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A67F2-CCDF-4A6F-8063-938D0D51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423F2-6A0B-43F7-AA85-C99A58C7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080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92FB-E80C-4102-8982-672D952D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Future Directions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6060-D05A-4FB1-8874-103F54B38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Refined and standardized trust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with 5G/6G networks for better latency and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ML and AI for proactive threat mitigation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Establishing global standards for military UAV security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56D42-1B60-438A-8409-BD7BD3FB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33E65-B323-48B4-A195-CA40DB09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10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99F6-E613-488E-AACF-144D110B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FEF6-3865-482C-885E-967B2BDB4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ZTA is critical for securing military UAV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augments detection and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Future work should focus on real-time adaptation and global standardization.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Zero Trust is a strategic necessity, not just a cybersecurity trend.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E20DA-ACFF-4336-9259-28F24836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FE9D3-52CA-49B0-86E2-DD87F4C3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192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{E43034E9-8D8C-4101-BE81-D7DAE063F072}tf55705232_win32</Template>
  <TotalTime>509</TotalTime>
  <Words>754</Words>
  <Application>Microsoft Office PowerPoint</Application>
  <PresentationFormat>Widescreen</PresentationFormat>
  <Paragraphs>157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Goudy Old Style</vt:lpstr>
      <vt:lpstr>Times New Roman</vt:lpstr>
      <vt:lpstr>Wingdings 2</vt:lpstr>
      <vt:lpstr>SlateVTI</vt:lpstr>
      <vt:lpstr>PowerPoint Presentation</vt:lpstr>
      <vt:lpstr>Zero Trust Architecture for Military UAV Security Systems</vt:lpstr>
      <vt:lpstr>Introduction</vt:lpstr>
      <vt:lpstr>Objectives of the Study</vt:lpstr>
      <vt:lpstr>What is Zero Trust Architecture (ZTA)? </vt:lpstr>
      <vt:lpstr>Why ZTA for Military UAVs?</vt:lpstr>
      <vt:lpstr>Limitations of Traditional Security Models </vt:lpstr>
      <vt:lpstr>Core Principles of ZTA </vt:lpstr>
      <vt:lpstr>ZTA Components (Based on NIST) </vt:lpstr>
      <vt:lpstr>Logical ZTA Components </vt:lpstr>
      <vt:lpstr> Machine Learning in ZTA</vt:lpstr>
      <vt:lpstr>UAV Security Layers</vt:lpstr>
      <vt:lpstr>Common Cyber Threats to UAVs </vt:lpstr>
      <vt:lpstr>Applications of UAVs in Military</vt:lpstr>
      <vt:lpstr>IoBT and UAV Integration </vt:lpstr>
      <vt:lpstr>Access Control Mechanisms </vt:lpstr>
      <vt:lpstr>Benefits of Implementing ZTA in UAVs </vt:lpstr>
      <vt:lpstr>Risks and Challenges of ZTA Implementation </vt:lpstr>
      <vt:lpstr>Accuracy of ZTA Systems </vt:lpstr>
      <vt:lpstr>Literature Review Summary </vt:lpstr>
      <vt:lpstr>Future Directions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Architecture for Military UAV Security Systems</dc:title>
  <dc:creator>yadunandan N</dc:creator>
  <cp:lastModifiedBy>yadunandan N</cp:lastModifiedBy>
  <cp:revision>7</cp:revision>
  <dcterms:created xsi:type="dcterms:W3CDTF">2025-05-15T07:20:36Z</dcterms:created>
  <dcterms:modified xsi:type="dcterms:W3CDTF">2025-11-05T11:22:35Z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